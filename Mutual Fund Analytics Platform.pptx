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91200" y="4883348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56421" y="1936551"/>
            <a:ext cx="46791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0B981"/>
                </a:solidFill>
                <a:latin typeface="Plus Jakarta Sans"/>
              </a:rPr>
              <a:t>BLUESTOCK FINTECH ·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96" y="2403276"/>
            <a:ext cx="11251406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>
                <a:solidFill>
                  <a:srgbClr val="FFFFFF"/>
                </a:solidFill>
                <a:latin typeface="Plus Jakarta Sans"/>
              </a:rPr>
              <a:t>Mutual Fund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2187" y="4140398"/>
            <a:ext cx="7667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Plus Jakarta Sans"/>
              </a:rPr>
              <a:t>Full-stack data pipeline, risk modeling, and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Ecosystem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0175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Plus Jakarta Sans"/>
              </a:rPr>
              <a:t>Project baseline metrics and data volume.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09875"/>
            <a:ext cx="29289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46k+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24275"/>
            <a:ext cx="307538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Daily NAV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086225"/>
            <a:ext cx="2928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Historical pricing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6150" y="2809875"/>
            <a:ext cx="31194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₹12.5L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6150" y="3724275"/>
            <a:ext cx="327540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Crore AUM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6150" y="4086225"/>
            <a:ext cx="3119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Total anchor assets.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700" y="2809875"/>
            <a:ext cx="29289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32k+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700" y="3724275"/>
            <a:ext cx="307538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4086225"/>
            <a:ext cx="2928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Investor activity logged.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6850" y="2809875"/>
            <a:ext cx="29289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6850" y="3724275"/>
            <a:ext cx="307538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Schemes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6850" y="4086225"/>
            <a:ext cx="2928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Across 10 real AMCs.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862387"/>
            <a:ext cx="762000" cy="38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862387"/>
            <a:ext cx="762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862387"/>
            <a:ext cx="7620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286125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3729037"/>
            <a:ext cx="1905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3176587"/>
            <a:ext cx="1143000" cy="1143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729037"/>
            <a:ext cx="1905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286125"/>
            <a:ext cx="1143000" cy="1143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3729037"/>
            <a:ext cx="1905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3176587"/>
            <a:ext cx="1143000" cy="1143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3629025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519487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3629025"/>
            <a:ext cx="4000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9325" y="3519487"/>
            <a:ext cx="51435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ETL Pipeline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400175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Plus Jakarta Sans"/>
              </a:rPr>
              <a:t>Automated extraction to BI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343" y="4657725"/>
            <a:ext cx="2500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us Jakarta Sans"/>
              </a:rP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5019675"/>
            <a:ext cx="2381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mfapi.in REST + CSV.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2343" y="4548187"/>
            <a:ext cx="2500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us Jakarta Sans"/>
              </a:rP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1875" y="4910137"/>
            <a:ext cx="2381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Pandas cleaning and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9343" y="4657725"/>
            <a:ext cx="2500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us Jakarta Sans"/>
              </a:rPr>
              <a:t>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8875" y="5019675"/>
            <a:ext cx="2381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SQLite star schema.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6343" y="4548187"/>
            <a:ext cx="2500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us Jakarta San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5875" y="4910137"/>
            <a:ext cx="2381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4-page Power BI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29929" y="2276475"/>
            <a:ext cx="341367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276475"/>
            <a:ext cx="341367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29929" y="4152900"/>
            <a:ext cx="341367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152900"/>
            <a:ext cx="341367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29929" y="6029325"/>
            <a:ext cx="341367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6029325"/>
            <a:ext cx="341367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54" y="259080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5908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54" y="446722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46722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54" y="634365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634365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Star Schema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400175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Plus Jakarta Sans"/>
              </a:rPr>
              <a:t>Fully joinable, normalized tables for BI ingestion.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254" y="2971800"/>
            <a:ext cx="36553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dim_fund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254" y="3314700"/>
            <a:ext cx="3481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Core scheme master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2971800"/>
            <a:ext cx="36553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fact_nav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314700"/>
            <a:ext cx="3481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46k+ daily history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4254" y="4848225"/>
            <a:ext cx="36553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fact_aum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4254" y="5191125"/>
            <a:ext cx="3481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Fund house market share.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4848225"/>
            <a:ext cx="36553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fact_sip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5191125"/>
            <a:ext cx="3481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Monthly retail inflows.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4254" y="6724650"/>
            <a:ext cx="365533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fact_transactions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4254" y="7067550"/>
            <a:ext cx="3481275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32k+ investor activities.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725" y="6724650"/>
            <a:ext cx="365533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fact_holdings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725" y="7067550"/>
            <a:ext cx="3481275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Sector and stock weights.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371600"/>
            <a:ext cx="4876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624012"/>
            <a:ext cx="4900612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24162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15+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86112"/>
            <a:ext cx="5715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Comprehensive Python notebooks.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29037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Trend 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90987"/>
            <a:ext cx="5715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Mapping core market movements.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33912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Distribution Normality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95862"/>
            <a:ext cx="5715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Validating statistical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276475"/>
            <a:ext cx="48006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276475"/>
            <a:ext cx="48006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43000" y="4029075"/>
            <a:ext cx="48006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029075"/>
            <a:ext cx="48006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2276475"/>
            <a:ext cx="57150" cy="1447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2276475"/>
            <a:ext cx="57150" cy="1447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3000" y="4029075"/>
            <a:ext cx="57150" cy="1447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4029075"/>
            <a:ext cx="57150" cy="1447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Risk &amp; Performance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400175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Plus Jakarta Sans"/>
              </a:rPr>
              <a:t>Quantitative outputs generated via Python data science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2657475"/>
            <a:ext cx="522565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Sharpe &amp; Sortino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3105150"/>
            <a:ext cx="4976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Risk-adjusted return profiling.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2657475"/>
            <a:ext cx="522565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Value at Risk (VaR)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550" y="3105150"/>
            <a:ext cx="4976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95% confidence downside boundaries.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150" y="4410075"/>
            <a:ext cx="522565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Max Drawdown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150" y="4857750"/>
            <a:ext cx="4976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Historical downside exposure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4410075"/>
            <a:ext cx="522565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Alpha &amp; Beta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4857750"/>
            <a:ext cx="4976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Nifty 50 benchmark correlations.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71887"/>
            <a:ext cx="11430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62412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52937"/>
            <a:ext cx="114300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066925"/>
            <a:ext cx="419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19350"/>
            <a:ext cx="3620452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Page 1:</a:t>
            </a:r>
            <a:r>
              <a:t>
</a:t>
            </a:r>
            <a:r>
              <a:rPr sz="3000" b="1" i="0" u="none">
                <a:solidFill>
                  <a:srgbClr val="0F172A"/>
                </a:solidFill>
                <a:latin typeface="Plus Jakarta Sans"/>
              </a:rPr>
              <a:t> Market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619500"/>
            <a:ext cx="3962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Rankings: Top performing funds.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010025"/>
            <a:ext cx="3962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AUM: Market share across AMCs.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400550"/>
            <a:ext cx="3962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Inflows: ₹31k Cr SIP growth trend.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60" y="806245"/>
            <a:ext cx="6920183" cy="5260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676650"/>
            <a:ext cx="11430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4305300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4695825"/>
            <a:ext cx="114300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77200" y="1585912"/>
            <a:ext cx="4114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1938337"/>
            <a:ext cx="3620452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Page 2:</a:t>
            </a:r>
            <a:r>
              <a:t>
</a:t>
            </a:r>
            <a:r>
              <a:rPr sz="3000" b="1" i="0" u="none">
                <a:solidFill>
                  <a:srgbClr val="0F172A"/>
                </a:solidFill>
                <a:latin typeface="Plus Jakarta Sans"/>
              </a:rPr>
              <a:t> Risk &amp;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3624262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Risk Table: var_drawdown_summary.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4252912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Scatter Plot: Sharpe vs Sortino.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4643437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Downside: Maximum drawdown visual.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64" y="1230619"/>
            <a:ext cx="6803794" cy="4298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14700"/>
            <a:ext cx="11430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43350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72000"/>
            <a:ext cx="114300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709737"/>
            <a:ext cx="419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62162"/>
            <a:ext cx="3620452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Page 3:</a:t>
            </a:r>
            <a:r>
              <a:t>
</a:t>
            </a:r>
            <a:r>
              <a:rPr sz="3000" b="1" i="0" u="none">
                <a:solidFill>
                  <a:srgbClr val="0F172A"/>
                </a:solidFill>
                <a:latin typeface="Plus Jakarta Sans"/>
              </a:rPr>
              <a:t>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262312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Categories: Debt, Equity, Hybrid folios.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890962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Geography: Tier-2 city expansion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519612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Age Brackets: 31% under-30 investors.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00" y="1068274"/>
            <a:ext cx="7049729" cy="43880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557587"/>
            <a:ext cx="11430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4186237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4814887"/>
            <a:ext cx="114300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77200" y="1466850"/>
            <a:ext cx="4114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1819275"/>
            <a:ext cx="3620452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Page 4:</a:t>
            </a:r>
            <a:r>
              <a:t>
</a:t>
            </a:r>
            <a:r>
              <a:rPr sz="3000" b="1" i="0" u="none">
                <a:solidFill>
                  <a:srgbClr val="0F172A"/>
                </a:solidFill>
                <a:latin typeface="Plus Jakarta Sans"/>
              </a:rPr>
              <a:t> Holdings &amp;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3505200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Holdings: Sector concentration bar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4133850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Benchmarks: Nifty 50 and Nifty 100.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4762500"/>
            <a:ext cx="3219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Variance: Tracking error comparisons.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98" y="137037"/>
            <a:ext cx="6832930" cy="31395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98" y="3505200"/>
            <a:ext cx="6832930" cy="32051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1995487"/>
            <a:ext cx="99060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3000" y="3005137"/>
            <a:ext cx="99060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43000" y="4014787"/>
            <a:ext cx="99060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43000" y="5024437"/>
            <a:ext cx="99060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233612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3243262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4252912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325" y="5262562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47625" y="1052512"/>
            <a:ext cx="1228725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Plus Jakarta Sans"/>
              </a:rPr>
              <a:t>Key Findings &amp; Business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925" y="2252662"/>
            <a:ext cx="88820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75569"/>
                </a:solidFill>
                <a:latin typeface="Plus Jakarta Sans"/>
              </a:rPr>
              <a:t>Mid-Cap Alpha: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 Structural outperformance captured despite volatility.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925" y="3262312"/>
            <a:ext cx="83462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75569"/>
                </a:solidFill>
                <a:latin typeface="Plus Jakarta Sans"/>
              </a:rPr>
              <a:t>Regional Shift: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 Accelerated 2.5x growth recorded in Tier-2 regions.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925" y="4271962"/>
            <a:ext cx="769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75569"/>
                </a:solidFill>
                <a:latin typeface="Plus Jakarta Sans"/>
              </a:rPr>
              <a:t>Youth Adoption: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 31% of ecosystem participants are under 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925" y="5281612"/>
            <a:ext cx="83462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75569"/>
                </a:solidFill>
                <a:latin typeface="Plus Jakarta Sans"/>
              </a:rPr>
              <a:t>Equity Dominance: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 Vast majority of accounts active in equity folios.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47987" y="3505200"/>
            <a:ext cx="3324225" cy="561975"/>
          </a:xfrm>
          <a:prstGeom prst="roundRect">
            <a:avLst>
              <a:gd name="adj" fmla="val 13559"/>
            </a:avLst>
          </a:prstGeom>
          <a:noFill/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00812" y="3505200"/>
            <a:ext cx="2743200" cy="561975"/>
          </a:xfrm>
          <a:prstGeom prst="roundRect">
            <a:avLst>
              <a:gd name="adj" fmla="val 13559"/>
            </a:avLst>
          </a:prstGeom>
          <a:noFill/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4" y="4714875"/>
            <a:ext cx="1809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08164" y="1666875"/>
            <a:ext cx="537567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Pipeline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2476500"/>
            <a:ext cx="833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Plus Jakarta Sans"/>
              </a:rPr>
              <a:t>End-to-end analytics platform successfully deployed, satisfying all capstone objectives.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9852" y="4687014"/>
            <a:ext cx="4969438" cy="246221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chemeClr val="bg1"/>
                </a:solidFill>
                <a:latin typeface="Plus Jakarta Sans"/>
              </a:rPr>
              <a:t> </a:t>
            </a:r>
            <a:r>
              <a:rPr sz="1500" b="1" i="0" u="none" dirty="0" smtClean="0">
                <a:solidFill>
                  <a:schemeClr val="bg1"/>
                </a:solidFill>
                <a:latin typeface="Plus Jakarta Sans"/>
              </a:rPr>
              <a:t>/</a:t>
            </a:r>
            <a:r>
              <a:rPr lang="en-IN" sz="1600" dirty="0">
                <a:solidFill>
                  <a:schemeClr val="bg1"/>
                </a:solidFill>
              </a:rPr>
              <a:t>https://github.com/VigneshBura/mutual-fund-analytics</a:t>
            </a:r>
            <a:endParaRPr sz="15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1107" y="5000625"/>
            <a:ext cx="432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 smtClean="0">
                <a:solidFill>
                  <a:srgbClr val="94A3B8"/>
                </a:solidFill>
                <a:latin typeface="Plus Jakarta Sans"/>
              </a:rPr>
              <a:t> </a:t>
            </a:r>
            <a:endParaRPr sz="12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7271" y="3676650"/>
            <a:ext cx="3345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0B981"/>
                </a:solidFill>
                <a:latin typeface="Plus Jakarta Sans"/>
              </a:rPr>
              <a:t>Future: Real-time API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76650"/>
            <a:ext cx="2619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0B981"/>
                </a:solidFill>
                <a:latin typeface="Plus Jakarta Sans"/>
              </a:rPr>
              <a:t>Future: Automated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393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Vignesh Bura</dc:creator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2026-10-12T11:20:53Z</dcterms:modified>
  <cp:category/>
</cp:coreProperties>
</file>